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A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7498079" y="-1097280"/>
            <a:ext cx="6400800" cy="9144000"/>
          </a:xfrm>
          <a:prstGeom prst="parallelogram">
            <a:avLst/>
          </a:prstGeom>
          <a:solidFill>
            <a:srgbClr val="E6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665B"/>
                </a:solidFill>
                <a:latin typeface="Calibri"/>
              </a:rPr>
              <a:t>CONFIGUREOUT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0584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>
                <a:solidFill>
                  <a:srgbClr val="0C1414"/>
                </a:solidFill>
                <a:latin typeface="Calibri"/>
              </a:rPr>
              <a:t>How Configureout turns visitors into closed deals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Calibri"/>
              </a:rPr>
              <a:t>End-to-end sales process supported by the product configurator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754880"/>
            <a:ext cx="10515600" cy="45720"/>
          </a:xfrm>
          <a:prstGeom prst="rect">
            <a:avLst/>
          </a:prstGeom>
          <a:solidFill>
            <a:srgbClr val="0FA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665B"/>
                </a:solidFill>
                <a:latin typeface="Calibri"/>
              </a:rPr>
              <a:t>Self-serve quoting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C1414"/>
                </a:solidFill>
                <a:latin typeface="Calibri"/>
              </a:rPr>
              <a:t>Customers configure &amp; request a quote without sales involvement.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120640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665B"/>
                </a:solidFill>
                <a:latin typeface="Calibri"/>
              </a:rPr>
              <a:t>Less back-and-forth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48640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C1414"/>
                </a:solidFill>
                <a:latin typeface="Calibri"/>
              </a:rPr>
              <a:t>Branded PDF + attachments delivered in one click; accept / reject on a public link.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5120640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665B"/>
                </a:solidFill>
                <a:latin typeface="Calibri"/>
              </a:rPr>
              <a:t>Full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48640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C1414"/>
                </a:solidFill>
                <a:latin typeface="Calibri"/>
              </a:rPr>
              <a:t>Every change captured per quotation. Multi-tenant, white-label ready.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A6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Business process — Configure → Inquire → Quote → 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43055" cy="5074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68680"/>
            <a:ext cx="1463040" cy="1691640"/>
          </a:xfrm>
          <a:prstGeom prst="rect">
            <a:avLst/>
          </a:prstGeom>
          <a:solidFill>
            <a:srgbClr val="7DE4D3"/>
          </a:solidFill>
          <a:ln w="1270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68680"/>
            <a:ext cx="14630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C1414"/>
                </a:solidFill>
                <a:latin typeface="Calibri"/>
              </a:rPr>
              <a:t>Customer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1463040" cy="1691640"/>
          </a:xfrm>
          <a:prstGeom prst="rect">
            <a:avLst/>
          </a:prstGeom>
          <a:solidFill>
            <a:srgbClr val="38D3BB"/>
          </a:solidFill>
          <a:ln w="1270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560320"/>
            <a:ext cx="14630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C1414"/>
                </a:solidFill>
                <a:latin typeface="Calibri"/>
              </a:rPr>
              <a:t>Sales / Operator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2560320"/>
            <a:ext cx="10180015" cy="0"/>
          </a:xfrm>
          <a:prstGeom prst="line">
            <a:avLst/>
          </a:prstGeom>
          <a:ln w="6350">
            <a:solidFill>
              <a:srgbClr val="0FA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4251960"/>
            <a:ext cx="1463040" cy="1691640"/>
          </a:xfrm>
          <a:prstGeom prst="rect">
            <a:avLst/>
          </a:prstGeom>
          <a:solidFill>
            <a:srgbClr val="0FA392"/>
          </a:solidFill>
          <a:ln w="1270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4251960"/>
            <a:ext cx="1463040" cy="1691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Configureout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37360" y="4251960"/>
            <a:ext cx="10180015" cy="0"/>
          </a:xfrm>
          <a:prstGeom prst="line">
            <a:avLst/>
          </a:prstGeom>
          <a:ln w="6350">
            <a:solidFill>
              <a:srgbClr val="0FA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600200" y="1485900"/>
            <a:ext cx="457200" cy="457200"/>
          </a:xfrm>
          <a:prstGeom prst="ellipse">
            <a:avLst/>
          </a:prstGeom>
          <a:solidFill>
            <a:srgbClr val="E6FBF8"/>
          </a:solidFill>
          <a:ln w="2540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98310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Visitor on product 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1421892"/>
            <a:ext cx="16916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000" b="1">
                <a:solidFill>
                  <a:srgbClr val="0C1414"/>
                </a:solidFill>
                <a:latin typeface="Calibri"/>
              </a:rPr>
              <a:t>Configure product
in embedded widget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1421892"/>
            <a:ext cx="16916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000" b="1">
                <a:solidFill>
                  <a:srgbClr val="0C1414"/>
                </a:solidFill>
                <a:latin typeface="Calibri"/>
              </a:rPr>
              <a:t>Submit inquiry
(name · email · message)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4805172"/>
            <a:ext cx="1691640" cy="594360"/>
          </a:xfrm>
          <a:prstGeom prst="roundRect">
            <a:avLst/>
          </a:prstGeom>
          <a:solidFill>
            <a:srgbClr val="E6FBF8"/>
          </a:solidFill>
          <a:ln w="1270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000" b="1">
                <a:solidFill>
                  <a:srgbClr val="0C1414"/>
                </a:solidFill>
                <a:latin typeface="Calibri"/>
              </a:rPr>
              <a:t>Store inquiry,
notify operator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113532"/>
            <a:ext cx="16916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000" b="1">
                <a:solidFill>
                  <a:srgbClr val="0C1414"/>
                </a:solidFill>
                <a:latin typeface="Calibri"/>
              </a:rPr>
              <a:t>Review inquiry &amp;
prepare quotation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3113532"/>
            <a:ext cx="16916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000" b="1">
                <a:solidFill>
                  <a:srgbClr val="0C1414"/>
                </a:solidFill>
                <a:latin typeface="Calibri"/>
              </a:rPr>
              <a:t>Generate branded PDF
+ attach extra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0" y="3113532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000" b="1">
                <a:solidFill>
                  <a:srgbClr val="0C1414"/>
                </a:solidFill>
                <a:latin typeface="Calibri"/>
              </a:rPr>
              <a:t>Send email
with quote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0" y="4805172"/>
            <a:ext cx="1417320" cy="594360"/>
          </a:xfrm>
          <a:prstGeom prst="roundRect">
            <a:avLst/>
          </a:prstGeom>
          <a:solidFill>
            <a:srgbClr val="E6FBF8"/>
          </a:solidFill>
          <a:ln w="1270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1000" b="1">
                <a:solidFill>
                  <a:srgbClr val="0C1414"/>
                </a:solidFill>
                <a:latin typeface="Calibri"/>
              </a:rPr>
              <a:t>Deliver email
(Resend, ≤20MB)</a:t>
            </a:r>
          </a:p>
        </p:txBody>
      </p:sp>
      <p:sp>
        <p:nvSpPr>
          <p:cNvPr id="23" name="Diamond 22"/>
          <p:cNvSpPr/>
          <p:nvPr/>
        </p:nvSpPr>
        <p:spPr>
          <a:xfrm>
            <a:off x="11635740" y="1463040"/>
            <a:ext cx="502920" cy="50292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E0A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E0A82E"/>
                </a:solidFill>
                <a:latin typeface="Calibri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1170432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B7280"/>
                </a:solidFill>
                <a:latin typeface="Calibri"/>
              </a:rPr>
              <a:t>Accept / Reject?</a:t>
            </a:r>
          </a:p>
        </p:txBody>
      </p:sp>
      <p:sp>
        <p:nvSpPr>
          <p:cNvPr id="25" name="Oval 24"/>
          <p:cNvSpPr/>
          <p:nvPr/>
        </p:nvSpPr>
        <p:spPr>
          <a:xfrm>
            <a:off x="11612880" y="3680460"/>
            <a:ext cx="457200" cy="457200"/>
          </a:xfrm>
          <a:prstGeom prst="ellipse">
            <a:avLst/>
          </a:prstGeom>
          <a:solidFill>
            <a:srgbClr val="10B981"/>
          </a:solidFill>
          <a:ln w="27940">
            <a:solidFill>
              <a:srgbClr val="0A6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27080" y="417766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DEAL WON</a:t>
            </a:r>
          </a:p>
        </p:txBody>
      </p:sp>
      <p:sp>
        <p:nvSpPr>
          <p:cNvPr id="27" name="Oval 26"/>
          <p:cNvSpPr/>
          <p:nvPr/>
        </p:nvSpPr>
        <p:spPr>
          <a:xfrm>
            <a:off x="11612880" y="4320540"/>
            <a:ext cx="457200" cy="457200"/>
          </a:xfrm>
          <a:prstGeom prst="ellipse">
            <a:avLst/>
          </a:prstGeom>
          <a:solidFill>
            <a:srgbClr val="D94A4A"/>
          </a:solidFill>
          <a:ln w="27940">
            <a:solidFill>
              <a:srgbClr val="0A6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27080" y="481774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Lost · reason logged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057400" y="1714500"/>
            <a:ext cx="411480" cy="4572"/>
          </a:xfrm>
          <a:prstGeom prst="line">
            <a:avLst/>
          </a:prstGeom>
          <a:ln w="15875">
            <a:solidFill>
              <a:srgbClr val="0C141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160520" y="1719072"/>
            <a:ext cx="365760" cy="0"/>
          </a:xfrm>
          <a:prstGeom prst="line">
            <a:avLst/>
          </a:prstGeom>
          <a:ln w="15875">
            <a:solidFill>
              <a:srgbClr val="0C141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72100" y="2016252"/>
            <a:ext cx="0" cy="2788920"/>
          </a:xfrm>
          <a:prstGeom prst="line">
            <a:avLst/>
          </a:prstGeom>
          <a:ln w="15875">
            <a:solidFill>
              <a:srgbClr val="0C141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217920" y="3410712"/>
            <a:ext cx="365760" cy="1394460"/>
          </a:xfrm>
          <a:prstGeom prst="line">
            <a:avLst/>
          </a:prstGeom>
          <a:ln w="15875">
            <a:solidFill>
              <a:srgbClr val="0C141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75320" y="3410712"/>
            <a:ext cx="320040" cy="0"/>
          </a:xfrm>
          <a:prstGeom prst="line">
            <a:avLst/>
          </a:prstGeom>
          <a:ln w="15875">
            <a:solidFill>
              <a:srgbClr val="0C141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287000" y="3410712"/>
            <a:ext cx="228600" cy="0"/>
          </a:xfrm>
          <a:prstGeom prst="line">
            <a:avLst/>
          </a:prstGeom>
          <a:ln w="15875">
            <a:solidFill>
              <a:srgbClr val="0C141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224260" y="3707892"/>
            <a:ext cx="0" cy="1097280"/>
          </a:xfrm>
          <a:prstGeom prst="line">
            <a:avLst/>
          </a:prstGeom>
          <a:ln w="15875">
            <a:solidFill>
              <a:srgbClr val="0C141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224260" y="1965960"/>
            <a:ext cx="662940" cy="2839212"/>
          </a:xfrm>
          <a:prstGeom prst="line">
            <a:avLst/>
          </a:prstGeom>
          <a:ln w="15875">
            <a:solidFill>
              <a:srgbClr val="0C1414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1841480" y="1965960"/>
            <a:ext cx="45720" cy="1714500"/>
          </a:xfrm>
          <a:prstGeom prst="line">
            <a:avLst/>
          </a:prstGeom>
          <a:ln w="25400">
            <a:solidFill>
              <a:srgbClr val="10B98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315700" y="2640330"/>
            <a:ext cx="1097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Calibri"/>
              </a:rPr>
              <a:t>Accept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1841480" y="1965960"/>
            <a:ext cx="228600" cy="2354580"/>
          </a:xfrm>
          <a:prstGeom prst="line">
            <a:avLst/>
          </a:prstGeom>
          <a:ln w="25400">
            <a:solidFill>
              <a:srgbClr val="D94A4A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1407140" y="3417570"/>
            <a:ext cx="10972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94A4A"/>
                </a:solidFill>
                <a:latin typeface="Calibri"/>
              </a:rPr>
              <a:t>Reject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080760"/>
            <a:ext cx="11643055" cy="6858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135624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A665B"/>
                </a:solidFill>
                <a:latin typeface="Calibri"/>
              </a:rPr>
              <a:t>Legend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63040" y="6409944"/>
            <a:ext cx="4572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800" b="0">
                <a:solidFill>
                  <a:srgbClr val="0C1414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640994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C1414"/>
                </a:solidFill>
                <a:latin typeface="Calibri"/>
              </a:rPr>
              <a:t>Customer / sales task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23360" y="6409944"/>
            <a:ext cx="457200" cy="292608"/>
          </a:xfrm>
          <a:prstGeom prst="roundRect">
            <a:avLst/>
          </a:prstGeom>
          <a:solidFill>
            <a:srgbClr val="E6FBF8"/>
          </a:solidFill>
          <a:ln w="1270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20000" bIns="20000"/>
          <a:lstStyle/>
          <a:p>
            <a:pPr algn="ctr"/>
            <a:r>
              <a:rPr sz="800" b="0">
                <a:solidFill>
                  <a:srgbClr val="0C1414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0994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C1414"/>
                </a:solidFill>
                <a:latin typeface="Calibri"/>
              </a:rPr>
              <a:t>Automated platform step</a:t>
            </a:r>
          </a:p>
        </p:txBody>
      </p:sp>
      <p:sp>
        <p:nvSpPr>
          <p:cNvPr id="47" name="Diamond 46"/>
          <p:cNvSpPr/>
          <p:nvPr/>
        </p:nvSpPr>
        <p:spPr>
          <a:xfrm>
            <a:off x="6848856" y="6409944"/>
            <a:ext cx="292608" cy="292608"/>
          </a:xfrm>
          <a:prstGeom prst="diamond">
            <a:avLst/>
          </a:prstGeom>
          <a:solidFill>
            <a:srgbClr val="FFFFFF"/>
          </a:solidFill>
          <a:ln w="25400">
            <a:solidFill>
              <a:srgbClr val="E0A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E0A82E"/>
                </a:solidFill>
                <a:latin typeface="Calibri"/>
              </a:rPr>
              <a:t>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640994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C1414"/>
                </a:solidFill>
                <a:latin typeface="Calibri"/>
              </a:rPr>
              <a:t>Decision point</a:t>
            </a:r>
          </a:p>
        </p:txBody>
      </p:sp>
      <p:sp>
        <p:nvSpPr>
          <p:cNvPr id="49" name="Oval 48"/>
          <p:cNvSpPr/>
          <p:nvPr/>
        </p:nvSpPr>
        <p:spPr>
          <a:xfrm>
            <a:off x="9244584" y="6428232"/>
            <a:ext cx="256032" cy="256032"/>
          </a:xfrm>
          <a:prstGeom prst="ellipse">
            <a:avLst/>
          </a:prstGeom>
          <a:solidFill>
            <a:srgbClr val="E6FBF8"/>
          </a:solidFill>
          <a:ln w="25400">
            <a:solidFill>
              <a:srgbClr val="0FA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0" y="6409944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C1414"/>
                </a:solidFill>
                <a:latin typeface="Calibri"/>
              </a:rPr>
              <a:t>Start / end event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A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0C1414"/>
                </a:solidFill>
                <a:latin typeface="Calibri"/>
              </a:rPr>
              <a:t>Where Configureout creates measurable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Five outcomes that show up in your sales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194560" cy="3657600"/>
          </a:xfrm>
          <a:prstGeom prst="roundRect">
            <a:avLst>
              <a:gd name="adj" fmla="val 4000"/>
            </a:avLst>
          </a:prstGeom>
          <a:solidFill>
            <a:srgbClr val="F7F5F1"/>
          </a:solidFill>
          <a:ln w="12700">
            <a:solidFill>
              <a:srgbClr val="38D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A39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665B"/>
                </a:solidFill>
                <a:latin typeface="Calibri"/>
              </a:rPr>
              <a:t>Higher conversion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C1414"/>
                </a:solidFill>
                <a:latin typeface="Calibri"/>
              </a:rPr>
              <a:t>Real-time pricing &amp; visual configuration cut the path from interest to 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1783080"/>
            <a:ext cx="2194560" cy="3657600"/>
          </a:xfrm>
          <a:prstGeom prst="roundRect">
            <a:avLst>
              <a:gd name="adj" fmla="val 4000"/>
            </a:avLst>
          </a:prstGeom>
          <a:solidFill>
            <a:srgbClr val="F7F5F1"/>
          </a:solidFill>
          <a:ln w="12700">
            <a:solidFill>
              <a:srgbClr val="38D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96596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A39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665B"/>
                </a:solidFill>
                <a:latin typeface="Calibri"/>
              </a:rPr>
              <a:t>Less manual quoting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379476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C1414"/>
                </a:solidFill>
                <a:latin typeface="Calibri"/>
              </a:rPr>
              <a:t>Inquiries arrive with the full configuration &amp; price already attached — no email tennis.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9824" y="1783080"/>
            <a:ext cx="2194560" cy="3657600"/>
          </a:xfrm>
          <a:prstGeom prst="roundRect">
            <a:avLst>
              <a:gd name="adj" fmla="val 4000"/>
            </a:avLst>
          </a:prstGeom>
          <a:solidFill>
            <a:srgbClr val="F7F5F1"/>
          </a:solidFill>
          <a:ln w="12700">
            <a:solidFill>
              <a:srgbClr val="38D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196596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A39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2704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665B"/>
                </a:solidFill>
                <a:latin typeface="Calibri"/>
              </a:rPr>
              <a:t>Faster turnaround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704" y="379476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C1414"/>
                </a:solidFill>
                <a:latin typeface="Calibri"/>
              </a:rPr>
              <a:t>Branded PDF, optional extra attachments and a one-click Send mean quotes go out the same 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6" y="1783080"/>
            <a:ext cx="2194560" cy="3657600"/>
          </a:xfrm>
          <a:prstGeom prst="roundRect">
            <a:avLst>
              <a:gd name="adj" fmla="val 4000"/>
            </a:avLst>
          </a:prstGeom>
          <a:solidFill>
            <a:srgbClr val="F7F5F1"/>
          </a:solidFill>
          <a:ln w="12700">
            <a:solidFill>
              <a:srgbClr val="38D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1856" y="196596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A39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665B"/>
                </a:solidFill>
                <a:latin typeface="Calibri"/>
              </a:rPr>
              <a:t>Cleaner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6" y="379476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C1414"/>
                </a:solidFill>
                <a:latin typeface="Calibri"/>
              </a:rPr>
              <a:t>Distinct statuses — In preparation · Confirmed · Sent · Accepted · Rejected · Expired.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68128" y="1783080"/>
            <a:ext cx="2194560" cy="3657600"/>
          </a:xfrm>
          <a:prstGeom prst="roundRect">
            <a:avLst>
              <a:gd name="adj" fmla="val 4000"/>
            </a:avLst>
          </a:prstGeom>
          <a:solidFill>
            <a:srgbClr val="F7F5F1"/>
          </a:solidFill>
          <a:ln w="12700">
            <a:solidFill>
              <a:srgbClr val="38D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51008" y="196596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A39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51008" y="26517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665B"/>
                </a:solidFill>
                <a:latin typeface="Calibri"/>
              </a:rPr>
              <a:t>Customer self-service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379476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C1414"/>
                </a:solidFill>
                <a:latin typeface="Calibri"/>
              </a:rPr>
              <a:t>Public /q/:token link lets customers accept or reject without picking up the phone.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6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510528"/>
            <a:ext cx="10972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665B"/>
                </a:solidFill>
                <a:latin typeface="Calibri"/>
              </a:rPr>
              <a:t>configureout.com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